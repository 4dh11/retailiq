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3724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07341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53447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6742466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046478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3860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327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4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3646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79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883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0246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479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417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6353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68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0131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969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4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232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3768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36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422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728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2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119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2396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750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034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9917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218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718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58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226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398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1905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965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9560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1763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6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2217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0279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23621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12159563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61257047" name="Shape 2"/>
          <p:cNvSpPr/>
          <p:nvPr/>
        </p:nvSpPr>
        <p:spPr bwMode="auto">
          <a:xfrm>
            <a:off x="0" y="1371600"/>
            <a:ext cx="9144000" cy="2560320"/>
          </a:xfrm>
          <a:prstGeom prst="rect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2039365284" name="Text 3"/>
          <p:cNvSpPr/>
          <p:nvPr/>
        </p:nvSpPr>
        <p:spPr bwMode="auto"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Intelligent E-Commerce Data Pipeline</a:t>
            </a:r>
            <a:endParaRPr lang="en-US" sz="3400"/>
          </a:p>
        </p:txBody>
      </p:sp>
      <p:sp>
        <p:nvSpPr>
          <p:cNvPr id="1453737217" name="Text 4"/>
          <p:cNvSpPr/>
          <p:nvPr/>
        </p:nvSpPr>
        <p:spPr bwMode="auto">
          <a:xfrm>
            <a:off x="457200" y="2084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i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and Decision Support System using Machine Learning</a:t>
            </a:r>
            <a:endParaRPr lang="en-US" sz="2200"/>
          </a:p>
        </p:txBody>
      </p:sp>
      <p:sp>
        <p:nvSpPr>
          <p:cNvPr id="144774410" name="Shape 5"/>
          <p:cNvSpPr/>
          <p:nvPr/>
        </p:nvSpPr>
        <p:spPr bwMode="auto">
          <a:xfrm>
            <a:off x="2286000" y="2670048"/>
            <a:ext cx="4572000" cy="0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1532397131" name="Text 6"/>
          <p:cNvSpPr/>
          <p:nvPr/>
        </p:nvSpPr>
        <p:spPr bwMode="auto"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SS Adityaa  ·  23011102079</a:t>
            </a:r>
            <a:endParaRPr lang="en-US" sz="1500"/>
          </a:p>
        </p:txBody>
      </p:sp>
      <p:sp>
        <p:nvSpPr>
          <p:cNvPr id="721973328" name="Text 7"/>
          <p:cNvSpPr/>
          <p:nvPr/>
        </p:nvSpPr>
        <p:spPr bwMode="auto"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B.Tech Internet of Things  ·  Department of Computer Science and Engineering</a:t>
            </a:r>
            <a:endParaRPr lang="en-US" sz="1200"/>
          </a:p>
        </p:txBody>
      </p:sp>
      <p:sp>
        <p:nvSpPr>
          <p:cNvPr id="1869125948" name="Text 8"/>
          <p:cNvSpPr/>
          <p:nvPr/>
        </p:nvSpPr>
        <p:spPr bwMode="auto"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  ·  April 2025</a:t>
            </a:r>
            <a:endParaRPr lang="en-US" sz="1100"/>
          </a:p>
        </p:txBody>
      </p:sp>
      <p:sp>
        <p:nvSpPr>
          <p:cNvPr id="816473614" name="Shape 9"/>
          <p:cNvSpPr/>
          <p:nvPr/>
        </p:nvSpPr>
        <p:spPr bwMode="auto">
          <a:xfrm>
            <a:off x="914400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56013064" name="Text 10"/>
          <p:cNvSpPr/>
          <p:nvPr/>
        </p:nvSpPr>
        <p:spPr bwMode="auto">
          <a:xfrm>
            <a:off x="914400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  <a:endParaRPr lang="en-US" sz="900"/>
          </a:p>
        </p:txBody>
      </p:sp>
      <p:sp>
        <p:nvSpPr>
          <p:cNvPr id="212340488" name="Shape 11"/>
          <p:cNvSpPr/>
          <p:nvPr/>
        </p:nvSpPr>
        <p:spPr bwMode="auto">
          <a:xfrm>
            <a:off x="2176272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82704024" name="Text 12"/>
          <p:cNvSpPr/>
          <p:nvPr/>
        </p:nvSpPr>
        <p:spPr bwMode="auto">
          <a:xfrm>
            <a:off x="2176272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</a:t>
            </a:r>
            <a:endParaRPr lang="en-US" sz="900"/>
          </a:p>
        </p:txBody>
      </p:sp>
      <p:sp>
        <p:nvSpPr>
          <p:cNvPr id="1736967525" name="Shape 13"/>
          <p:cNvSpPr/>
          <p:nvPr/>
        </p:nvSpPr>
        <p:spPr bwMode="auto">
          <a:xfrm>
            <a:off x="3438144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4603197" name="Text 14"/>
          <p:cNvSpPr/>
          <p:nvPr/>
        </p:nvSpPr>
        <p:spPr bwMode="auto">
          <a:xfrm>
            <a:off x="3438144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Prophet</a:t>
            </a:r>
            <a:endParaRPr lang="en-US" sz="900"/>
          </a:p>
        </p:txBody>
      </p:sp>
      <p:sp>
        <p:nvSpPr>
          <p:cNvPr id="392478696" name="Shape 15"/>
          <p:cNvSpPr/>
          <p:nvPr/>
        </p:nvSpPr>
        <p:spPr bwMode="auto">
          <a:xfrm>
            <a:off x="4700016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1017961" name="Text 16"/>
          <p:cNvSpPr/>
          <p:nvPr/>
        </p:nvSpPr>
        <p:spPr bwMode="auto">
          <a:xfrm>
            <a:off x="4700016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FP-Growth</a:t>
            </a:r>
            <a:endParaRPr lang="en-US" sz="900"/>
          </a:p>
        </p:txBody>
      </p:sp>
      <p:sp>
        <p:nvSpPr>
          <p:cNvPr id="1585612495" name="Shape 17"/>
          <p:cNvSpPr/>
          <p:nvPr/>
        </p:nvSpPr>
        <p:spPr bwMode="auto">
          <a:xfrm>
            <a:off x="5961888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96640955" name="Text 18"/>
          <p:cNvSpPr/>
          <p:nvPr/>
        </p:nvSpPr>
        <p:spPr bwMode="auto">
          <a:xfrm>
            <a:off x="5961888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Flask</a:t>
            </a:r>
            <a:endParaRPr lang="en-US" sz="900"/>
          </a:p>
        </p:txBody>
      </p:sp>
      <p:sp>
        <p:nvSpPr>
          <p:cNvPr id="1761036855" name="Shape 19"/>
          <p:cNvSpPr/>
          <p:nvPr/>
        </p:nvSpPr>
        <p:spPr bwMode="auto">
          <a:xfrm>
            <a:off x="7223760" y="4069373"/>
            <a:ext cx="1115568" cy="274320"/>
          </a:xfrm>
          <a:prstGeom prst="rect">
            <a:avLst>
              <a:gd name="adj" fmla="val 26667"/>
            </a:avLst>
          </a:prstGeom>
          <a:solidFill>
            <a:srgbClr val="2196F3">
              <a:alpha val="3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66610603" name="Text 20"/>
          <p:cNvSpPr/>
          <p:nvPr/>
        </p:nvSpPr>
        <p:spPr bwMode="auto">
          <a:xfrm>
            <a:off x="7223760" y="4069373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BG/NBD</a:t>
            </a:r>
            <a:endParaRPr lang="en-US" sz="900"/>
          </a:p>
        </p:txBody>
      </p:sp>
      <p:sp>
        <p:nvSpPr>
          <p:cNvPr id="207295856" name="Text 21"/>
          <p:cNvSpPr/>
          <p:nvPr/>
        </p:nvSpPr>
        <p:spPr bwMode="auto">
          <a:xfrm>
            <a:off x="457200" y="443498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Mentor: Dr. Veeramani Sonai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70167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5448780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0701358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313386170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317078514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56389455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400"/>
          </a:p>
        </p:txBody>
      </p:sp>
      <p:sp>
        <p:nvSpPr>
          <p:cNvPr id="939793966" name="Shape 6"/>
          <p:cNvSpPr/>
          <p:nvPr/>
        </p:nvSpPr>
        <p:spPr bwMode="auto">
          <a:xfrm>
            <a:off x="365760" y="841248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221237198" name="Shape 7"/>
          <p:cNvSpPr/>
          <p:nvPr/>
        </p:nvSpPr>
        <p:spPr bwMode="auto">
          <a:xfrm>
            <a:off x="365760" y="841248"/>
            <a:ext cx="502920" cy="10241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48263030" name="Text 8"/>
          <p:cNvSpPr/>
          <p:nvPr/>
        </p:nvSpPr>
        <p:spPr bwMode="auto">
          <a:xfrm>
            <a:off x="365760" y="841248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800"/>
          </a:p>
        </p:txBody>
      </p:sp>
      <p:sp>
        <p:nvSpPr>
          <p:cNvPr id="616192899" name="Text 9"/>
          <p:cNvSpPr/>
          <p:nvPr/>
        </p:nvSpPr>
        <p:spPr bwMode="auto">
          <a:xfrm>
            <a:off x="960120" y="1097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1300"/>
          </a:p>
        </p:txBody>
      </p:sp>
      <p:sp>
        <p:nvSpPr>
          <p:cNvPr id="1085538116" name="Shape 10"/>
          <p:cNvSpPr/>
          <p:nvPr/>
        </p:nvSpPr>
        <p:spPr bwMode="auto">
          <a:xfrm>
            <a:off x="4846320" y="841248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01451038" name="Shape 11"/>
          <p:cNvSpPr/>
          <p:nvPr/>
        </p:nvSpPr>
        <p:spPr bwMode="auto">
          <a:xfrm>
            <a:off x="4846320" y="841248"/>
            <a:ext cx="502920" cy="10241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89913607" name="Text 12"/>
          <p:cNvSpPr/>
          <p:nvPr/>
        </p:nvSpPr>
        <p:spPr bwMode="auto">
          <a:xfrm>
            <a:off x="4846320" y="841248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800"/>
          </a:p>
        </p:txBody>
      </p:sp>
      <p:sp>
        <p:nvSpPr>
          <p:cNvPr id="1230965361" name="Text 13"/>
          <p:cNvSpPr/>
          <p:nvPr/>
        </p:nvSpPr>
        <p:spPr bwMode="auto">
          <a:xfrm>
            <a:off x="5440680" y="1097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1300"/>
          </a:p>
        </p:txBody>
      </p:sp>
      <p:sp>
        <p:nvSpPr>
          <p:cNvPr id="919111592" name="Shape 14"/>
          <p:cNvSpPr/>
          <p:nvPr/>
        </p:nvSpPr>
        <p:spPr bwMode="auto">
          <a:xfrm>
            <a:off x="365760" y="2075688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81413808" name="Shape 15"/>
          <p:cNvSpPr/>
          <p:nvPr/>
        </p:nvSpPr>
        <p:spPr bwMode="auto">
          <a:xfrm>
            <a:off x="365760" y="2075688"/>
            <a:ext cx="502920" cy="10241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02417529" name="Text 16"/>
          <p:cNvSpPr/>
          <p:nvPr/>
        </p:nvSpPr>
        <p:spPr bwMode="auto">
          <a:xfrm>
            <a:off x="365760" y="2075688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800"/>
          </a:p>
        </p:txBody>
      </p:sp>
      <p:sp>
        <p:nvSpPr>
          <p:cNvPr id="789301284" name="Text 17"/>
          <p:cNvSpPr/>
          <p:nvPr/>
        </p:nvSpPr>
        <p:spPr bwMode="auto">
          <a:xfrm>
            <a:off x="96012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ETL Pipeline &amp; Feature Engineering</a:t>
            </a:r>
            <a:endParaRPr lang="en-US" sz="1300"/>
          </a:p>
        </p:txBody>
      </p:sp>
      <p:sp>
        <p:nvSpPr>
          <p:cNvPr id="1453874100" name="Shape 18"/>
          <p:cNvSpPr/>
          <p:nvPr/>
        </p:nvSpPr>
        <p:spPr bwMode="auto">
          <a:xfrm>
            <a:off x="4846320" y="2075688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82417476" name="Shape 19"/>
          <p:cNvSpPr/>
          <p:nvPr/>
        </p:nvSpPr>
        <p:spPr bwMode="auto">
          <a:xfrm>
            <a:off x="4846320" y="2075688"/>
            <a:ext cx="502920" cy="10241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32859472" name="Text 20"/>
          <p:cNvSpPr/>
          <p:nvPr/>
        </p:nvSpPr>
        <p:spPr bwMode="auto">
          <a:xfrm>
            <a:off x="4846320" y="2075688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800"/>
          </a:p>
        </p:txBody>
      </p:sp>
      <p:sp>
        <p:nvSpPr>
          <p:cNvPr id="101490275" name="Text 21"/>
          <p:cNvSpPr/>
          <p:nvPr/>
        </p:nvSpPr>
        <p:spPr bwMode="auto">
          <a:xfrm>
            <a:off x="544068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Machine Learning Models (4)</a:t>
            </a:r>
            <a:endParaRPr lang="en-US" sz="1300"/>
          </a:p>
        </p:txBody>
      </p:sp>
      <p:sp>
        <p:nvSpPr>
          <p:cNvPr id="1231831291" name="Shape 22"/>
          <p:cNvSpPr/>
          <p:nvPr/>
        </p:nvSpPr>
        <p:spPr bwMode="auto">
          <a:xfrm>
            <a:off x="365760" y="3310127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417083532" name="Shape 23"/>
          <p:cNvSpPr/>
          <p:nvPr/>
        </p:nvSpPr>
        <p:spPr bwMode="auto">
          <a:xfrm>
            <a:off x="365760" y="3310127"/>
            <a:ext cx="502920" cy="10241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63140344" name="Text 24"/>
          <p:cNvSpPr/>
          <p:nvPr/>
        </p:nvSpPr>
        <p:spPr bwMode="auto">
          <a:xfrm>
            <a:off x="365760" y="3310127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800"/>
          </a:p>
        </p:txBody>
      </p:sp>
      <p:sp>
        <p:nvSpPr>
          <p:cNvPr id="539465214" name="Text 25"/>
          <p:cNvSpPr/>
          <p:nvPr/>
        </p:nvSpPr>
        <p:spPr bwMode="auto">
          <a:xfrm>
            <a:off x="96012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Dashboard &amp; Results</a:t>
            </a:r>
            <a:endParaRPr lang="en-US" sz="1300"/>
          </a:p>
        </p:txBody>
      </p:sp>
      <p:sp>
        <p:nvSpPr>
          <p:cNvPr id="1410027415" name="Shape 26"/>
          <p:cNvSpPr/>
          <p:nvPr/>
        </p:nvSpPr>
        <p:spPr bwMode="auto">
          <a:xfrm>
            <a:off x="4846320" y="3310127"/>
            <a:ext cx="4206240" cy="102412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59410971" name="Shape 27"/>
          <p:cNvSpPr/>
          <p:nvPr/>
        </p:nvSpPr>
        <p:spPr bwMode="auto">
          <a:xfrm>
            <a:off x="4846320" y="3310127"/>
            <a:ext cx="502920" cy="10241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40905244" name="Text 28"/>
          <p:cNvSpPr/>
          <p:nvPr/>
        </p:nvSpPr>
        <p:spPr bwMode="auto">
          <a:xfrm>
            <a:off x="4846320" y="3310127"/>
            <a:ext cx="502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800"/>
          </a:p>
        </p:txBody>
      </p:sp>
      <p:sp>
        <p:nvSpPr>
          <p:cNvPr id="1082467580" name="Text 29"/>
          <p:cNvSpPr/>
          <p:nvPr/>
        </p:nvSpPr>
        <p:spPr bwMode="auto">
          <a:xfrm>
            <a:off x="54406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055311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1649479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0471771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907908787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408187470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80034038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2400"/>
          </a:p>
        </p:txBody>
      </p:sp>
      <p:sp>
        <p:nvSpPr>
          <p:cNvPr id="125388219" name="Shape 6"/>
          <p:cNvSpPr/>
          <p:nvPr/>
        </p:nvSpPr>
        <p:spPr bwMode="auto">
          <a:xfrm>
            <a:off x="365760" y="841248"/>
            <a:ext cx="4114800" cy="1920240"/>
          </a:xfrm>
          <a:prstGeom prst="rect">
            <a:avLst/>
          </a:prstGeom>
          <a:solidFill>
            <a:srgbClr val="1A2744"/>
          </a:solidFill>
          <a:ln w="10160">
            <a:solidFill>
              <a:srgbClr val="EF53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84209423" name="Shape 7"/>
          <p:cNvSpPr/>
          <p:nvPr/>
        </p:nvSpPr>
        <p:spPr bwMode="auto">
          <a:xfrm>
            <a:off x="365760" y="841248"/>
            <a:ext cx="4114800" cy="3291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01466281" name="Text 8"/>
          <p:cNvSpPr/>
          <p:nvPr/>
        </p:nvSpPr>
        <p:spPr bwMode="auto">
          <a:xfrm>
            <a:off x="475488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Raw Data Challenges</a:t>
            </a:r>
            <a:endParaRPr lang="en-US" sz="1100"/>
          </a:p>
        </p:txBody>
      </p:sp>
      <p:sp>
        <p:nvSpPr>
          <p:cNvPr id="617166029" name="Text 9"/>
          <p:cNvSpPr/>
          <p:nvPr/>
        </p:nvSpPr>
        <p:spPr bwMode="auto">
          <a:xfrm>
            <a:off x="475488" y="1243584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~1M records across 2 CSVs (2009–2011)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Missing CustomerIDs and cancellations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Negative quantities and zero prices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No unified analytical format</a:t>
            </a:r>
            <a:endParaRPr lang="en-US" sz="1000"/>
          </a:p>
        </p:txBody>
      </p:sp>
      <p:sp>
        <p:nvSpPr>
          <p:cNvPr id="2046521979" name="Shape 10"/>
          <p:cNvSpPr/>
          <p:nvPr/>
        </p:nvSpPr>
        <p:spPr bwMode="auto">
          <a:xfrm>
            <a:off x="4663440" y="841248"/>
            <a:ext cx="4114800" cy="1920240"/>
          </a:xfrm>
          <a:prstGeom prst="rect">
            <a:avLst/>
          </a:prstGeom>
          <a:solidFill>
            <a:srgbClr val="1A2744"/>
          </a:solidFill>
          <a:ln w="1016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69575785" name="Shape 11"/>
          <p:cNvSpPr/>
          <p:nvPr/>
        </p:nvSpPr>
        <p:spPr bwMode="auto">
          <a:xfrm>
            <a:off x="4663440" y="841248"/>
            <a:ext cx="4114800" cy="32918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17951553" name="Text 12"/>
          <p:cNvSpPr/>
          <p:nvPr/>
        </p:nvSpPr>
        <p:spPr bwMode="auto">
          <a:xfrm>
            <a:off x="4773168" y="877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Analytics Gap</a:t>
            </a:r>
            <a:endParaRPr lang="en-US" sz="1100"/>
          </a:p>
        </p:txBody>
      </p:sp>
      <p:sp>
        <p:nvSpPr>
          <p:cNvPr id="1916215789" name="Text 13"/>
          <p:cNvSpPr/>
          <p:nvPr/>
        </p:nvSpPr>
        <p:spPr bwMode="auto">
          <a:xfrm>
            <a:off x="4773168" y="1243584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Data stored for transactions, not analytics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Existing work: descriptive only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No churn signals or revenue forecasts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No product recommendation logic</a:t>
            </a:r>
            <a:endParaRPr lang="en-US" sz="1000"/>
          </a:p>
        </p:txBody>
      </p:sp>
      <p:sp>
        <p:nvSpPr>
          <p:cNvPr id="1433819352" name="Shape 14"/>
          <p:cNvSpPr/>
          <p:nvPr/>
        </p:nvSpPr>
        <p:spPr bwMode="auto">
          <a:xfrm>
            <a:off x="365760" y="2852928"/>
            <a:ext cx="8412480" cy="1874520"/>
          </a:xfrm>
          <a:prstGeom prst="rect">
            <a:avLst/>
          </a:prstGeom>
          <a:solidFill>
            <a:srgbClr val="1A2744"/>
          </a:solidFill>
          <a:ln w="1016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87570968" name="Shape 15"/>
          <p:cNvSpPr/>
          <p:nvPr/>
        </p:nvSpPr>
        <p:spPr bwMode="auto">
          <a:xfrm>
            <a:off x="365760" y="2852928"/>
            <a:ext cx="8412480" cy="3291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54294389" name="Text 16"/>
          <p:cNvSpPr/>
          <p:nvPr/>
        </p:nvSpPr>
        <p:spPr bwMode="auto">
          <a:xfrm>
            <a:off x="475488" y="2889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Solution</a:t>
            </a:r>
            <a:endParaRPr lang="en-US" sz="1100"/>
          </a:p>
        </p:txBody>
      </p:sp>
      <p:sp>
        <p:nvSpPr>
          <p:cNvPr id="495122247" name="Text 17"/>
          <p:cNvSpPr/>
          <p:nvPr/>
        </p:nvSpPr>
        <p:spPr bwMode="auto">
          <a:xfrm>
            <a:off x="475488" y="3255264"/>
            <a:ext cx="822960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End-to-end ETL pipeline + 4 ML models + interactive Flask dashboard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Churn Prediction · Sales Forecasting · Customer Lifetime Value · Market Basket Recommender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Moves from descriptive analytics to prescriptive decision support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05813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31495549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15777445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899224400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1263527718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35370785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Overview</a:t>
            </a:r>
            <a:endParaRPr lang="en-US" sz="2400"/>
          </a:p>
        </p:txBody>
      </p:sp>
      <p:sp>
        <p:nvSpPr>
          <p:cNvPr id="1828796865" name="Shape 6"/>
          <p:cNvSpPr/>
          <p:nvPr/>
        </p:nvSpPr>
        <p:spPr bwMode="auto">
          <a:xfrm>
            <a:off x="365760" y="841248"/>
            <a:ext cx="1938528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57591207" name="Shape 7"/>
          <p:cNvSpPr/>
          <p:nvPr/>
        </p:nvSpPr>
        <p:spPr bwMode="auto">
          <a:xfrm>
            <a:off x="365760" y="841248"/>
            <a:ext cx="54864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4778386" name="Text 8"/>
          <p:cNvSpPr/>
          <p:nvPr/>
        </p:nvSpPr>
        <p:spPr bwMode="auto">
          <a:xfrm>
            <a:off x="502920" y="91440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Source</a:t>
            </a:r>
            <a:endParaRPr lang="en-US" sz="1000"/>
          </a:p>
        </p:txBody>
      </p:sp>
      <p:sp>
        <p:nvSpPr>
          <p:cNvPr id="100169446" name="Text 9"/>
          <p:cNvSpPr/>
          <p:nvPr/>
        </p:nvSpPr>
        <p:spPr bwMode="auto">
          <a:xfrm>
            <a:off x="502920" y="11338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UCI Online Retail Dataset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2009–2011</a:t>
            </a:r>
            <a:endParaRPr lang="en-US" sz="1300"/>
          </a:p>
        </p:txBody>
      </p:sp>
      <p:sp>
        <p:nvSpPr>
          <p:cNvPr id="1092764610" name="Shape 10"/>
          <p:cNvSpPr/>
          <p:nvPr/>
        </p:nvSpPr>
        <p:spPr bwMode="auto">
          <a:xfrm>
            <a:off x="2423160" y="841248"/>
            <a:ext cx="1938528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63666259" name="Shape 11"/>
          <p:cNvSpPr/>
          <p:nvPr/>
        </p:nvSpPr>
        <p:spPr bwMode="auto">
          <a:xfrm>
            <a:off x="2423160" y="841248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19751004" name="Text 12"/>
          <p:cNvSpPr/>
          <p:nvPr/>
        </p:nvSpPr>
        <p:spPr bwMode="auto">
          <a:xfrm>
            <a:off x="2560320" y="91440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Raw Records</a:t>
            </a:r>
            <a:endParaRPr lang="en-US" sz="1000"/>
          </a:p>
        </p:txBody>
      </p:sp>
      <p:sp>
        <p:nvSpPr>
          <p:cNvPr id="498603606" name="Text 13"/>
          <p:cNvSpPr/>
          <p:nvPr/>
        </p:nvSpPr>
        <p:spPr bwMode="auto">
          <a:xfrm>
            <a:off x="2560320" y="11338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~1,067,371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(2 CSV files)</a:t>
            </a:r>
            <a:endParaRPr lang="en-US" sz="1300"/>
          </a:p>
        </p:txBody>
      </p:sp>
      <p:sp>
        <p:nvSpPr>
          <p:cNvPr id="345911595" name="Shape 14"/>
          <p:cNvSpPr/>
          <p:nvPr/>
        </p:nvSpPr>
        <p:spPr bwMode="auto">
          <a:xfrm>
            <a:off x="4480560" y="841248"/>
            <a:ext cx="1938528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380138980" name="Shape 15"/>
          <p:cNvSpPr/>
          <p:nvPr/>
        </p:nvSpPr>
        <p:spPr bwMode="auto">
          <a:xfrm>
            <a:off x="4480560" y="841248"/>
            <a:ext cx="54864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95474359" name="Text 16"/>
          <p:cNvSpPr/>
          <p:nvPr/>
        </p:nvSpPr>
        <p:spPr bwMode="auto">
          <a:xfrm>
            <a:off x="4617720" y="91440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After Cleaning</a:t>
            </a:r>
            <a:endParaRPr lang="en-US" sz="1000"/>
          </a:p>
        </p:txBody>
      </p:sp>
      <p:sp>
        <p:nvSpPr>
          <p:cNvPr id="25259301" name="Text 17"/>
          <p:cNvSpPr/>
          <p:nvPr/>
        </p:nvSpPr>
        <p:spPr bwMode="auto">
          <a:xfrm>
            <a:off x="4617720" y="11338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~805,549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 rows</a:t>
            </a:r>
            <a:endParaRPr lang="en-US" sz="1300"/>
          </a:p>
        </p:txBody>
      </p:sp>
      <p:sp>
        <p:nvSpPr>
          <p:cNvPr id="336128451" name="Shape 18"/>
          <p:cNvSpPr/>
          <p:nvPr/>
        </p:nvSpPr>
        <p:spPr bwMode="auto">
          <a:xfrm>
            <a:off x="6537960" y="841248"/>
            <a:ext cx="1938528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33707825" name="Shape 19"/>
          <p:cNvSpPr/>
          <p:nvPr/>
        </p:nvSpPr>
        <p:spPr bwMode="auto">
          <a:xfrm>
            <a:off x="6537960" y="841248"/>
            <a:ext cx="54864" cy="10058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467132678" name="Text 20"/>
          <p:cNvSpPr/>
          <p:nvPr/>
        </p:nvSpPr>
        <p:spPr bwMode="auto">
          <a:xfrm>
            <a:off x="6675120" y="91440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Unique Customers</a:t>
            </a:r>
            <a:endParaRPr lang="en-US" sz="1000"/>
          </a:p>
        </p:txBody>
      </p:sp>
      <p:sp>
        <p:nvSpPr>
          <p:cNvPr id="1771672341" name="Text 21"/>
          <p:cNvSpPr/>
          <p:nvPr/>
        </p:nvSpPr>
        <p:spPr bwMode="auto">
          <a:xfrm>
            <a:off x="6675120" y="1133856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~4,338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identified</a:t>
            </a:r>
            <a:endParaRPr lang="en-US" sz="1300"/>
          </a:p>
        </p:txBody>
      </p:sp>
      <p:sp>
        <p:nvSpPr>
          <p:cNvPr id="1728000932" name="Text 22"/>
          <p:cNvSpPr/>
          <p:nvPr/>
        </p:nvSpPr>
        <p:spPr bwMode="auto"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Key Dataset Attributes</a:t>
            </a:r>
            <a:endParaRPr lang="en-US" sz="1300"/>
          </a:p>
        </p:txBody>
      </p:sp>
      <p:sp>
        <p:nvSpPr>
          <p:cNvPr id="1144416901" name="Shape 23"/>
          <p:cNvSpPr/>
          <p:nvPr/>
        </p:nvSpPr>
        <p:spPr bwMode="auto">
          <a:xfrm>
            <a:off x="365760" y="239572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890615234" name="Text 24"/>
          <p:cNvSpPr/>
          <p:nvPr/>
        </p:nvSpPr>
        <p:spPr bwMode="auto">
          <a:xfrm>
            <a:off x="365760" y="23957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InvoiceNo</a:t>
            </a:r>
            <a:endParaRPr lang="en-US" sz="1050"/>
          </a:p>
        </p:txBody>
      </p:sp>
      <p:sp>
        <p:nvSpPr>
          <p:cNvPr id="1348383121" name="Shape 25"/>
          <p:cNvSpPr/>
          <p:nvPr/>
        </p:nvSpPr>
        <p:spPr bwMode="auto">
          <a:xfrm>
            <a:off x="2514600" y="239572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352147473" name="Text 26"/>
          <p:cNvSpPr/>
          <p:nvPr/>
        </p:nvSpPr>
        <p:spPr bwMode="auto">
          <a:xfrm>
            <a:off x="2514600" y="23957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StockCode</a:t>
            </a:r>
            <a:endParaRPr lang="en-US" sz="1050"/>
          </a:p>
        </p:txBody>
      </p:sp>
      <p:sp>
        <p:nvSpPr>
          <p:cNvPr id="2062163728" name="Shape 27"/>
          <p:cNvSpPr/>
          <p:nvPr/>
        </p:nvSpPr>
        <p:spPr bwMode="auto">
          <a:xfrm>
            <a:off x="4663440" y="239572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90A4A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255003845" name="Text 28"/>
          <p:cNvSpPr/>
          <p:nvPr/>
        </p:nvSpPr>
        <p:spPr bwMode="auto">
          <a:xfrm>
            <a:off x="4663440" y="23957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Description</a:t>
            </a:r>
            <a:endParaRPr lang="en-US" sz="1050"/>
          </a:p>
        </p:txBody>
      </p:sp>
      <p:sp>
        <p:nvSpPr>
          <p:cNvPr id="1407304811" name="Shape 29"/>
          <p:cNvSpPr/>
          <p:nvPr/>
        </p:nvSpPr>
        <p:spPr bwMode="auto">
          <a:xfrm>
            <a:off x="6812280" y="239572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756865085" name="Text 30"/>
          <p:cNvSpPr/>
          <p:nvPr/>
        </p:nvSpPr>
        <p:spPr bwMode="auto">
          <a:xfrm>
            <a:off x="6812280" y="23957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Quantity</a:t>
            </a:r>
            <a:endParaRPr lang="en-US" sz="1050"/>
          </a:p>
        </p:txBody>
      </p:sp>
      <p:sp>
        <p:nvSpPr>
          <p:cNvPr id="958443755" name="Shape 31"/>
          <p:cNvSpPr/>
          <p:nvPr/>
        </p:nvSpPr>
        <p:spPr bwMode="auto">
          <a:xfrm>
            <a:off x="365760" y="303580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010412490" name="Text 32"/>
          <p:cNvSpPr/>
          <p:nvPr/>
        </p:nvSpPr>
        <p:spPr bwMode="auto">
          <a:xfrm>
            <a:off x="365760" y="3035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InvoiceDate</a:t>
            </a:r>
            <a:endParaRPr lang="en-US" sz="1050"/>
          </a:p>
        </p:txBody>
      </p:sp>
      <p:sp>
        <p:nvSpPr>
          <p:cNvPr id="1570777168" name="Shape 33"/>
          <p:cNvSpPr/>
          <p:nvPr/>
        </p:nvSpPr>
        <p:spPr bwMode="auto">
          <a:xfrm>
            <a:off x="2514600" y="303580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21268944" name="Text 34"/>
          <p:cNvSpPr/>
          <p:nvPr/>
        </p:nvSpPr>
        <p:spPr bwMode="auto">
          <a:xfrm>
            <a:off x="2514600" y="3035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UnitPrice</a:t>
            </a:r>
            <a:endParaRPr lang="en-US" sz="1050"/>
          </a:p>
        </p:txBody>
      </p:sp>
      <p:sp>
        <p:nvSpPr>
          <p:cNvPr id="446463302" name="Shape 35"/>
          <p:cNvSpPr/>
          <p:nvPr/>
        </p:nvSpPr>
        <p:spPr bwMode="auto">
          <a:xfrm>
            <a:off x="4663440" y="303580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70661347" name="Text 36"/>
          <p:cNvSpPr/>
          <p:nvPr/>
        </p:nvSpPr>
        <p:spPr bwMode="auto">
          <a:xfrm>
            <a:off x="4663440" y="3035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CustomerID</a:t>
            </a:r>
            <a:endParaRPr lang="en-US" sz="1050"/>
          </a:p>
        </p:txBody>
      </p:sp>
      <p:sp>
        <p:nvSpPr>
          <p:cNvPr id="2035381976" name="Shape 37"/>
          <p:cNvSpPr/>
          <p:nvPr/>
        </p:nvSpPr>
        <p:spPr bwMode="auto">
          <a:xfrm>
            <a:off x="6812280" y="3035808"/>
            <a:ext cx="1965960" cy="475488"/>
          </a:xfrm>
          <a:prstGeom prst="rect">
            <a:avLst/>
          </a:prstGeom>
          <a:solidFill>
            <a:srgbClr val="1A2744"/>
          </a:solidFill>
          <a:ln w="12700">
            <a:solidFill>
              <a:srgbClr val="90A4A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0976786" name="Text 38"/>
          <p:cNvSpPr/>
          <p:nvPr/>
        </p:nvSpPr>
        <p:spPr bwMode="auto">
          <a:xfrm>
            <a:off x="6812280" y="303580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Country</a:t>
            </a:r>
            <a:endParaRPr lang="en-US" sz="1050"/>
          </a:p>
        </p:txBody>
      </p:sp>
      <p:sp>
        <p:nvSpPr>
          <p:cNvPr id="129490010" name="Text 39"/>
          <p:cNvSpPr/>
          <p:nvPr/>
        </p:nvSpPr>
        <p:spPr bwMode="auto"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Cleaning: removed null CustomerIDs · cancellations (C-prefix) · negative Quantity · zero UnitPrice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352855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61663910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99345203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448540142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990375817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23870235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lang="en-US" sz="2400"/>
          </a:p>
        </p:txBody>
      </p:sp>
      <p:sp>
        <p:nvSpPr>
          <p:cNvPr id="350418858" name="Shape 6"/>
          <p:cNvSpPr/>
          <p:nvPr/>
        </p:nvSpPr>
        <p:spPr bwMode="auto">
          <a:xfrm>
            <a:off x="365760" y="804672"/>
            <a:ext cx="1499616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90A4A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47659173" name="Shape 7"/>
          <p:cNvSpPr/>
          <p:nvPr/>
        </p:nvSpPr>
        <p:spPr bwMode="auto">
          <a:xfrm>
            <a:off x="365760" y="804672"/>
            <a:ext cx="1499616" cy="34747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7978063" name="Text 8"/>
          <p:cNvSpPr/>
          <p:nvPr/>
        </p:nvSpPr>
        <p:spPr bwMode="auto">
          <a:xfrm>
            <a:off x="365760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Source</a:t>
            </a:r>
            <a:endParaRPr lang="en-US" sz="950"/>
          </a:p>
        </p:txBody>
      </p:sp>
      <p:sp>
        <p:nvSpPr>
          <p:cNvPr id="541802469" name="Text 9"/>
          <p:cNvSpPr/>
          <p:nvPr/>
        </p:nvSpPr>
        <p:spPr bwMode="auto">
          <a:xfrm>
            <a:off x="420624" y="1225296"/>
            <a:ext cx="13898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2 CSV files · 1M+ rows</a:t>
            </a:r>
            <a:endParaRPr lang="en-US" sz="900"/>
          </a:p>
        </p:txBody>
      </p:sp>
      <p:sp>
        <p:nvSpPr>
          <p:cNvPr id="1595544648" name="Shape 10"/>
          <p:cNvSpPr/>
          <p:nvPr/>
        </p:nvSpPr>
        <p:spPr bwMode="auto">
          <a:xfrm>
            <a:off x="1865376" y="2542032"/>
            <a:ext cx="1828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318810468" name="Shape 11"/>
          <p:cNvSpPr/>
          <p:nvPr/>
        </p:nvSpPr>
        <p:spPr bwMode="auto">
          <a:xfrm>
            <a:off x="2048256" y="804672"/>
            <a:ext cx="1499616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81220520" name="Shape 12"/>
          <p:cNvSpPr/>
          <p:nvPr/>
        </p:nvSpPr>
        <p:spPr bwMode="auto">
          <a:xfrm>
            <a:off x="2048256" y="804672"/>
            <a:ext cx="1499616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11317371" name="Text 13"/>
          <p:cNvSpPr/>
          <p:nvPr/>
        </p:nvSpPr>
        <p:spPr bwMode="auto">
          <a:xfrm>
            <a:off x="2048256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ETL Pipeline</a:t>
            </a:r>
            <a:endParaRPr lang="en-US" sz="950"/>
          </a:p>
        </p:txBody>
      </p:sp>
      <p:sp>
        <p:nvSpPr>
          <p:cNvPr id="625241451" name="Text 14"/>
          <p:cNvSpPr/>
          <p:nvPr/>
        </p:nvSpPr>
        <p:spPr bwMode="auto">
          <a:xfrm>
            <a:off x="2103120" y="1225296"/>
            <a:ext cx="13898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Extract · Clean · Transform · Load</a:t>
            </a:r>
            <a:endParaRPr lang="en-US" sz="900"/>
          </a:p>
        </p:txBody>
      </p:sp>
      <p:sp>
        <p:nvSpPr>
          <p:cNvPr id="958579808" name="Shape 15"/>
          <p:cNvSpPr/>
          <p:nvPr/>
        </p:nvSpPr>
        <p:spPr bwMode="auto">
          <a:xfrm>
            <a:off x="3547872" y="2542032"/>
            <a:ext cx="18288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51470643" name="Shape 16"/>
          <p:cNvSpPr/>
          <p:nvPr/>
        </p:nvSpPr>
        <p:spPr bwMode="auto">
          <a:xfrm>
            <a:off x="3730752" y="804672"/>
            <a:ext cx="1499616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885834884" name="Shape 17"/>
          <p:cNvSpPr/>
          <p:nvPr/>
        </p:nvSpPr>
        <p:spPr bwMode="auto">
          <a:xfrm>
            <a:off x="3730752" y="804672"/>
            <a:ext cx="1499616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1989179" name="Text 18"/>
          <p:cNvSpPr/>
          <p:nvPr/>
        </p:nvSpPr>
        <p:spPr bwMode="auto">
          <a:xfrm>
            <a:off x="3730752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Engineering</a:t>
            </a:r>
            <a:endParaRPr lang="en-US" sz="950"/>
          </a:p>
        </p:txBody>
      </p:sp>
      <p:sp>
        <p:nvSpPr>
          <p:cNvPr id="1897418386" name="Text 19"/>
          <p:cNvSpPr/>
          <p:nvPr/>
        </p:nvSpPr>
        <p:spPr bwMode="auto">
          <a:xfrm>
            <a:off x="3785616" y="1225296"/>
            <a:ext cx="13898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RFM · Sales · Time features · KMeans</a:t>
            </a:r>
            <a:endParaRPr lang="en-US" sz="900"/>
          </a:p>
        </p:txBody>
      </p:sp>
      <p:sp>
        <p:nvSpPr>
          <p:cNvPr id="870084328" name="Shape 20"/>
          <p:cNvSpPr/>
          <p:nvPr/>
        </p:nvSpPr>
        <p:spPr bwMode="auto">
          <a:xfrm>
            <a:off x="5230368" y="2542032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032135664" name="Shape 21"/>
          <p:cNvSpPr/>
          <p:nvPr/>
        </p:nvSpPr>
        <p:spPr bwMode="auto">
          <a:xfrm>
            <a:off x="5413248" y="804672"/>
            <a:ext cx="1499616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51874796" name="Shape 22"/>
          <p:cNvSpPr/>
          <p:nvPr/>
        </p:nvSpPr>
        <p:spPr bwMode="auto">
          <a:xfrm>
            <a:off x="5413248" y="804672"/>
            <a:ext cx="1499616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15683403" name="Text 23"/>
          <p:cNvSpPr/>
          <p:nvPr/>
        </p:nvSpPr>
        <p:spPr bwMode="auto">
          <a:xfrm>
            <a:off x="5413248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Models (×4)</a:t>
            </a:r>
            <a:endParaRPr lang="en-US" sz="950"/>
          </a:p>
        </p:txBody>
      </p:sp>
      <p:sp>
        <p:nvSpPr>
          <p:cNvPr id="682511420" name="Text 24"/>
          <p:cNvSpPr/>
          <p:nvPr/>
        </p:nvSpPr>
        <p:spPr bwMode="auto">
          <a:xfrm>
            <a:off x="5468112" y="1225296"/>
            <a:ext cx="13898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Churn · Forecast · CLV · Basket</a:t>
            </a:r>
            <a:endParaRPr lang="en-US" sz="900"/>
          </a:p>
        </p:txBody>
      </p:sp>
      <p:sp>
        <p:nvSpPr>
          <p:cNvPr id="259107202" name="Shape 25"/>
          <p:cNvSpPr/>
          <p:nvPr/>
        </p:nvSpPr>
        <p:spPr bwMode="auto">
          <a:xfrm>
            <a:off x="6912864" y="2542032"/>
            <a:ext cx="18288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</p:sp>
      <p:sp>
        <p:nvSpPr>
          <p:cNvPr id="2063143223" name="Shape 26"/>
          <p:cNvSpPr/>
          <p:nvPr/>
        </p:nvSpPr>
        <p:spPr bwMode="auto">
          <a:xfrm>
            <a:off x="7095744" y="804672"/>
            <a:ext cx="1499616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844096537" name="Shape 27"/>
          <p:cNvSpPr/>
          <p:nvPr/>
        </p:nvSpPr>
        <p:spPr bwMode="auto">
          <a:xfrm>
            <a:off x="7095744" y="804672"/>
            <a:ext cx="1499616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28917707" name="Text 28"/>
          <p:cNvSpPr/>
          <p:nvPr/>
        </p:nvSpPr>
        <p:spPr bwMode="auto">
          <a:xfrm>
            <a:off x="7095744" y="804672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Flask Dashboard</a:t>
            </a:r>
            <a:endParaRPr lang="en-US" sz="950"/>
          </a:p>
        </p:txBody>
      </p:sp>
      <p:sp>
        <p:nvSpPr>
          <p:cNvPr id="1254580113" name="Text 29"/>
          <p:cNvSpPr/>
          <p:nvPr/>
        </p:nvSpPr>
        <p:spPr bwMode="auto">
          <a:xfrm>
            <a:off x="7150607" y="1225296"/>
            <a:ext cx="13898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Overview · Churn · Forecast · CLV/Basket</a:t>
            </a:r>
            <a:endParaRPr lang="en-US" sz="900"/>
          </a:p>
        </p:txBody>
      </p:sp>
      <p:sp>
        <p:nvSpPr>
          <p:cNvPr id="1465526990" name="Text 30"/>
          <p:cNvSpPr/>
          <p:nvPr/>
        </p:nvSpPr>
        <p:spPr bwMode="auto"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Each layer produces structured outputs consumed by the next layer. All CSV and model (.pkl) outputs are persisted to disk.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19846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12985638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16871036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907885209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895061583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11344140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ETL Pipeline &amp; Feature Engineering</a:t>
            </a:r>
            <a:endParaRPr lang="en-US" sz="2400"/>
          </a:p>
        </p:txBody>
      </p:sp>
      <p:sp>
        <p:nvSpPr>
          <p:cNvPr id="1758926993" name="Shape 6"/>
          <p:cNvSpPr/>
          <p:nvPr/>
        </p:nvSpPr>
        <p:spPr bwMode="auto">
          <a:xfrm>
            <a:off x="365760" y="804672"/>
            <a:ext cx="4023360" cy="1874520"/>
          </a:xfrm>
          <a:prstGeom prst="rect">
            <a:avLst/>
          </a:prstGeom>
          <a:solidFill>
            <a:srgbClr val="1A2744"/>
          </a:solidFill>
          <a:ln w="1016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769069552" name="Shape 7"/>
          <p:cNvSpPr/>
          <p:nvPr/>
        </p:nvSpPr>
        <p:spPr bwMode="auto">
          <a:xfrm>
            <a:off x="365760" y="804672"/>
            <a:ext cx="4023360" cy="3291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60376499" name="Text 8"/>
          <p:cNvSpPr/>
          <p:nvPr/>
        </p:nvSpPr>
        <p:spPr bwMode="auto">
          <a:xfrm>
            <a:off x="475488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ETL Steps</a:t>
            </a:r>
            <a:endParaRPr lang="en-US" sz="1100"/>
          </a:p>
        </p:txBody>
      </p:sp>
      <p:sp>
        <p:nvSpPr>
          <p:cNvPr id="98468242" name="Text 9"/>
          <p:cNvSpPr/>
          <p:nvPr/>
        </p:nvSpPr>
        <p:spPr bwMode="auto">
          <a:xfrm>
            <a:off x="475488" y="1207008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Load 2 CSVs → concat (1,067,371 rows)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Remove null CustomerID rows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Drop cancellations (InvoiceNo starts 'C')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Drop Quantity ≤ 0 and UnitPrice ≤ 0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Parse InvoiceDate to datetime</a:t>
            </a:r>
            <a:endParaRPr lang="en-US" sz="1000"/>
          </a:p>
        </p:txBody>
      </p:sp>
      <p:sp>
        <p:nvSpPr>
          <p:cNvPr id="788558286" name="Shape 10"/>
          <p:cNvSpPr/>
          <p:nvPr/>
        </p:nvSpPr>
        <p:spPr bwMode="auto">
          <a:xfrm>
            <a:off x="4754880" y="804672"/>
            <a:ext cx="4023360" cy="18745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70203209" name="Shape 11"/>
          <p:cNvSpPr/>
          <p:nvPr/>
        </p:nvSpPr>
        <p:spPr bwMode="auto">
          <a:xfrm>
            <a:off x="4754880" y="804672"/>
            <a:ext cx="4023360" cy="32918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06957830" name="Text 12"/>
          <p:cNvSpPr/>
          <p:nvPr/>
        </p:nvSpPr>
        <p:spPr bwMode="auto">
          <a:xfrm>
            <a:off x="4864607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Engineered Features</a:t>
            </a:r>
            <a:endParaRPr lang="en-US" sz="1100"/>
          </a:p>
        </p:txBody>
      </p:sp>
      <p:sp>
        <p:nvSpPr>
          <p:cNvPr id="918406770" name="Text 13"/>
          <p:cNvSpPr/>
          <p:nvPr/>
        </p:nvSpPr>
        <p:spPr bwMode="auto">
          <a:xfrm>
            <a:off x="4864607" y="1207008"/>
            <a:ext cx="384048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Sales = Quantity × UnitPrice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Year, Month, Day, Hour from InvoiceDate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Recency, Frequency, Monetary per customer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AvgOrderValue = Monetary / Frequency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KMeans cluster label (k=4)</a:t>
            </a:r>
            <a:endParaRPr lang="en-US" sz="1000"/>
          </a:p>
        </p:txBody>
      </p:sp>
      <p:sp>
        <p:nvSpPr>
          <p:cNvPr id="2147035639" name="Text 14"/>
          <p:cNvSpPr/>
          <p:nvPr/>
        </p:nvSpPr>
        <p:spPr bwMode="auto"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RFM Definition</a:t>
            </a:r>
            <a:endParaRPr lang="en-US" sz="1300"/>
          </a:p>
        </p:txBody>
      </p:sp>
      <p:sp>
        <p:nvSpPr>
          <p:cNvPr id="1276762059" name="Shape 15"/>
          <p:cNvSpPr/>
          <p:nvPr/>
        </p:nvSpPr>
        <p:spPr bwMode="auto">
          <a:xfrm>
            <a:off x="365760" y="3218688"/>
            <a:ext cx="2606040" cy="1481328"/>
          </a:xfrm>
          <a:prstGeom prst="rect">
            <a:avLst/>
          </a:prstGeom>
          <a:solidFill>
            <a:srgbClr val="1A2744"/>
          </a:solidFill>
          <a:ln w="19050">
            <a:solidFill>
              <a:srgbClr val="EF53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80452767" name="Text 16"/>
          <p:cNvSpPr/>
          <p:nvPr/>
        </p:nvSpPr>
        <p:spPr bwMode="auto">
          <a:xfrm>
            <a:off x="45720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F5350"/>
                </a:solidFill>
                <a:latin typeface="Calibri"/>
                <a:ea typeface="Calibri"/>
                <a:cs typeface="Calibri"/>
              </a:rPr>
              <a:t>R — Recency</a:t>
            </a:r>
            <a:endParaRPr lang="en-US" sz="1100"/>
          </a:p>
        </p:txBody>
      </p:sp>
      <p:sp>
        <p:nvSpPr>
          <p:cNvPr id="1557205074" name="Text 17"/>
          <p:cNvSpPr/>
          <p:nvPr/>
        </p:nvSpPr>
        <p:spPr bwMode="auto">
          <a:xfrm>
            <a:off x="457200" y="3639312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Days since last purchase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High = long time away = churn signal</a:t>
            </a:r>
            <a:endParaRPr lang="en-US" sz="1000"/>
          </a:p>
        </p:txBody>
      </p:sp>
      <p:sp>
        <p:nvSpPr>
          <p:cNvPr id="1748095377" name="Shape 18"/>
          <p:cNvSpPr/>
          <p:nvPr/>
        </p:nvSpPr>
        <p:spPr bwMode="auto">
          <a:xfrm>
            <a:off x="3246120" y="3218688"/>
            <a:ext cx="2606040" cy="1481328"/>
          </a:xfrm>
          <a:prstGeom prst="rect">
            <a:avLst/>
          </a:prstGeom>
          <a:solidFill>
            <a:srgbClr val="1A2744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16308577" name="Text 19"/>
          <p:cNvSpPr/>
          <p:nvPr/>
        </p:nvSpPr>
        <p:spPr bwMode="auto">
          <a:xfrm>
            <a:off x="333756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F — Frequency</a:t>
            </a:r>
            <a:endParaRPr lang="en-US" sz="1100"/>
          </a:p>
        </p:txBody>
      </p:sp>
      <p:sp>
        <p:nvSpPr>
          <p:cNvPr id="682860122" name="Text 20"/>
          <p:cNvSpPr/>
          <p:nvPr/>
        </p:nvSpPr>
        <p:spPr bwMode="auto">
          <a:xfrm>
            <a:off x="3337560" y="3639312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Count of unique invoices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High = loyal repeat buyer</a:t>
            </a:r>
            <a:endParaRPr lang="en-US" sz="1000"/>
          </a:p>
        </p:txBody>
      </p:sp>
      <p:sp>
        <p:nvSpPr>
          <p:cNvPr id="1900639280" name="Shape 21"/>
          <p:cNvSpPr/>
          <p:nvPr/>
        </p:nvSpPr>
        <p:spPr bwMode="auto">
          <a:xfrm>
            <a:off x="6126480" y="3218688"/>
            <a:ext cx="2606040" cy="1481328"/>
          </a:xfrm>
          <a:prstGeom prst="rect">
            <a:avLst/>
          </a:prstGeom>
          <a:solidFill>
            <a:srgbClr val="1A2744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05862507" name="Text 22"/>
          <p:cNvSpPr/>
          <p:nvPr/>
        </p:nvSpPr>
        <p:spPr bwMode="auto">
          <a:xfrm>
            <a:off x="621792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AF50"/>
                </a:solidFill>
                <a:latin typeface="Calibri"/>
                <a:ea typeface="Calibri"/>
                <a:cs typeface="Calibri"/>
              </a:rPr>
              <a:t>M — Monetary</a:t>
            </a:r>
            <a:endParaRPr lang="en-US" sz="1100"/>
          </a:p>
        </p:txBody>
      </p:sp>
      <p:sp>
        <p:nvSpPr>
          <p:cNvPr id="891198546" name="Text 23"/>
          <p:cNvSpPr/>
          <p:nvPr/>
        </p:nvSpPr>
        <p:spPr bwMode="auto">
          <a:xfrm>
            <a:off x="6217920" y="3639312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Total spend (GBP)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High = high-value customer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218881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8650285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0643088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278575452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1593710263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16794421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1 — Customer Churn Prediction (XGBoost)</a:t>
            </a:r>
            <a:endParaRPr lang="en-US" sz="2400"/>
          </a:p>
        </p:txBody>
      </p:sp>
      <p:sp>
        <p:nvSpPr>
          <p:cNvPr id="848453376" name="Shape 6"/>
          <p:cNvSpPr/>
          <p:nvPr/>
        </p:nvSpPr>
        <p:spPr bwMode="auto">
          <a:xfrm>
            <a:off x="365760" y="822960"/>
            <a:ext cx="4023360" cy="3886200"/>
          </a:xfrm>
          <a:prstGeom prst="rect">
            <a:avLst/>
          </a:prstGeom>
          <a:solidFill>
            <a:srgbClr val="1A2744"/>
          </a:solidFill>
          <a:ln w="10160">
            <a:solidFill>
              <a:srgbClr val="EF53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5087523" name="Shape 7"/>
          <p:cNvSpPr/>
          <p:nvPr/>
        </p:nvSpPr>
        <p:spPr bwMode="auto">
          <a:xfrm>
            <a:off x="365760" y="822960"/>
            <a:ext cx="4023360" cy="3291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23109266" name="Text 8"/>
          <p:cNvSpPr/>
          <p:nvPr/>
        </p:nvSpPr>
        <p:spPr bwMode="auto">
          <a:xfrm>
            <a:off x="475488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</a:t>
            </a:r>
            <a:endParaRPr lang="en-US" sz="1100"/>
          </a:p>
        </p:txBody>
      </p:sp>
      <p:sp>
        <p:nvSpPr>
          <p:cNvPr id="39975509" name="Text 9"/>
          <p:cNvSpPr/>
          <p:nvPr/>
        </p:nvSpPr>
        <p:spPr bwMode="auto">
          <a:xfrm>
            <a:off x="475488" y="1225296"/>
            <a:ext cx="38404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Label: Recency &gt; 90 days = Churned (1)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Features: Recency, Frequency, Monetary, AvgOrderValue, Cluster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Algorithm: XGBoost (300 trees, depth=5, lr=0.05)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Handles class imbalance via scale_pos_weight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Stratified 80/20 train/test split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Evaluation: ROC-AUC, confusion matrix, 5-fold CV</a:t>
            </a:r>
            <a:endParaRPr lang="en-US" sz="1000"/>
          </a:p>
        </p:txBody>
      </p:sp>
      <p:sp>
        <p:nvSpPr>
          <p:cNvPr id="747862549" name="Shape 10"/>
          <p:cNvSpPr/>
          <p:nvPr/>
        </p:nvSpPr>
        <p:spPr bwMode="auto">
          <a:xfrm>
            <a:off x="4663440" y="822960"/>
            <a:ext cx="4114800" cy="1828800"/>
          </a:xfrm>
          <a:prstGeom prst="rect">
            <a:avLst/>
          </a:prstGeom>
          <a:solidFill>
            <a:srgbClr val="1A2744"/>
          </a:solidFill>
          <a:ln w="1016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451016562" name="Shape 11"/>
          <p:cNvSpPr/>
          <p:nvPr/>
        </p:nvSpPr>
        <p:spPr bwMode="auto">
          <a:xfrm>
            <a:off x="4663440" y="822960"/>
            <a:ext cx="4114800" cy="3291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17235202" name="Text 12"/>
          <p:cNvSpPr/>
          <p:nvPr/>
        </p:nvSpPr>
        <p:spPr bwMode="auto">
          <a:xfrm>
            <a:off x="4773168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 per Customer</a:t>
            </a:r>
            <a:endParaRPr lang="en-US" sz="1100"/>
          </a:p>
        </p:txBody>
      </p:sp>
      <p:sp>
        <p:nvSpPr>
          <p:cNvPr id="1633645519" name="Text 13"/>
          <p:cNvSpPr/>
          <p:nvPr/>
        </p:nvSpPr>
        <p:spPr bwMode="auto">
          <a:xfrm>
            <a:off x="4773168" y="1225296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Churn probability score (0.0 – 1.0)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Risk tier: High / Medium / Low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Segment label (Champions / Loyal / At Risk / Lost)</a:t>
            </a:r>
            <a:endParaRPr lang="en-US" sz="1000"/>
          </a:p>
        </p:txBody>
      </p:sp>
      <p:sp>
        <p:nvSpPr>
          <p:cNvPr id="2126641717" name="Shape 14"/>
          <p:cNvSpPr/>
          <p:nvPr/>
        </p:nvSpPr>
        <p:spPr bwMode="auto">
          <a:xfrm>
            <a:off x="4663440" y="2743200"/>
            <a:ext cx="4114800" cy="1965960"/>
          </a:xfrm>
          <a:prstGeom prst="rect">
            <a:avLst/>
          </a:prstGeom>
          <a:solidFill>
            <a:srgbClr val="1A2744"/>
          </a:solidFill>
          <a:ln w="1016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38336723" name="Shape 15"/>
          <p:cNvSpPr/>
          <p:nvPr/>
        </p:nvSpPr>
        <p:spPr bwMode="auto">
          <a:xfrm>
            <a:off x="4663440" y="2743200"/>
            <a:ext cx="4114800" cy="32918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93365242" name="Text 16"/>
          <p:cNvSpPr/>
          <p:nvPr/>
        </p:nvSpPr>
        <p:spPr bwMode="auto">
          <a:xfrm>
            <a:off x="4773168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Intervention Recommender</a:t>
            </a:r>
            <a:endParaRPr lang="en-US" sz="1100"/>
          </a:p>
        </p:txBody>
      </p:sp>
      <p:sp>
        <p:nvSpPr>
          <p:cNvPr id="434810493" name="Text 17"/>
          <p:cNvSpPr/>
          <p:nvPr/>
        </p:nvSpPr>
        <p:spPr bwMode="auto">
          <a:xfrm>
            <a:off x="4773168" y="3145536"/>
            <a:ext cx="393192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12 action strings (4 segments × 3 risk tiers)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e.g. Champions + High Risk → VIP Win-Back offer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e.g. Lost + High Risk → Final win-back email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Exported: customer_churn_report.csv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781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03999605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0173658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451973544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371012202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75806843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2 — Sales Forecasting (Facebook Prophet)</a:t>
            </a:r>
            <a:endParaRPr lang="en-US" sz="2400"/>
          </a:p>
        </p:txBody>
      </p:sp>
      <p:sp>
        <p:nvSpPr>
          <p:cNvPr id="1272569714" name="Shape 6"/>
          <p:cNvSpPr/>
          <p:nvPr/>
        </p:nvSpPr>
        <p:spPr bwMode="auto">
          <a:xfrm>
            <a:off x="365760" y="822960"/>
            <a:ext cx="4023360" cy="3886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71263279" name="Shape 7"/>
          <p:cNvSpPr/>
          <p:nvPr/>
        </p:nvSpPr>
        <p:spPr bwMode="auto">
          <a:xfrm>
            <a:off x="365760" y="822960"/>
            <a:ext cx="4023360" cy="32918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378458" name="Text 8"/>
          <p:cNvSpPr/>
          <p:nvPr/>
        </p:nvSpPr>
        <p:spPr bwMode="auto">
          <a:xfrm>
            <a:off x="475488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</a:t>
            </a:r>
            <a:endParaRPr lang="en-US" sz="1100"/>
          </a:p>
        </p:txBody>
      </p:sp>
      <p:sp>
        <p:nvSpPr>
          <p:cNvPr id="590643158" name="Text 9"/>
          <p:cNvSpPr/>
          <p:nvPr/>
        </p:nvSpPr>
        <p:spPr bwMode="auto">
          <a:xfrm>
            <a:off x="475488" y="1225296"/>
            <a:ext cx="38404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Aggregate transactions → 25 monthly data points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Prophet formula: y(t) = trend + seasonality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Multiplicative seasonality mode (retail peaks scale with growth)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Yearly + custom monthly seasonality components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Hold-out: last 3 months as test set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Evaluation: MAE, RMSE, MAPE on test set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Cross-validation: initial=456d, period=30d, horizon=90d</a:t>
            </a:r>
            <a:endParaRPr lang="en-US" sz="1000"/>
          </a:p>
        </p:txBody>
      </p:sp>
      <p:sp>
        <p:nvSpPr>
          <p:cNvPr id="443885203" name="Shape 10"/>
          <p:cNvSpPr/>
          <p:nvPr/>
        </p:nvSpPr>
        <p:spPr bwMode="auto">
          <a:xfrm>
            <a:off x="4663440" y="822960"/>
            <a:ext cx="4114800" cy="1828800"/>
          </a:xfrm>
          <a:prstGeom prst="rect">
            <a:avLst/>
          </a:prstGeom>
          <a:solidFill>
            <a:srgbClr val="1A2744"/>
          </a:solidFill>
          <a:ln w="1016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931033027" name="Shape 11"/>
          <p:cNvSpPr/>
          <p:nvPr/>
        </p:nvSpPr>
        <p:spPr bwMode="auto">
          <a:xfrm>
            <a:off x="4663440" y="822960"/>
            <a:ext cx="4114800" cy="3291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09177904" name="Text 12"/>
          <p:cNvSpPr/>
          <p:nvPr/>
        </p:nvSpPr>
        <p:spPr bwMode="auto">
          <a:xfrm>
            <a:off x="4773168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Output</a:t>
            </a:r>
            <a:endParaRPr lang="en-US" sz="1100"/>
          </a:p>
        </p:txBody>
      </p:sp>
      <p:sp>
        <p:nvSpPr>
          <p:cNvPr id="1057900344" name="Text 13"/>
          <p:cNvSpPr/>
          <p:nvPr/>
        </p:nvSpPr>
        <p:spPr bwMode="auto">
          <a:xfrm>
            <a:off x="4773168" y="1225296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6-month forward forecast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95% confidence intervals (yhat_lower/upper)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Trend decomposition chart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Peak month detection</a:t>
            </a:r>
            <a:endParaRPr lang="en-US" sz="1000"/>
          </a:p>
        </p:txBody>
      </p:sp>
      <p:sp>
        <p:nvSpPr>
          <p:cNvPr id="268655067" name="Shape 14"/>
          <p:cNvSpPr/>
          <p:nvPr/>
        </p:nvSpPr>
        <p:spPr bwMode="auto">
          <a:xfrm>
            <a:off x="4663440" y="2743200"/>
            <a:ext cx="4114800" cy="1965960"/>
          </a:xfrm>
          <a:prstGeom prst="rect">
            <a:avLst/>
          </a:prstGeom>
          <a:solidFill>
            <a:srgbClr val="1A2744"/>
          </a:solidFill>
          <a:ln w="10160">
            <a:solidFill>
              <a:srgbClr val="4CAF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96129656" name="Shape 15"/>
          <p:cNvSpPr/>
          <p:nvPr/>
        </p:nvSpPr>
        <p:spPr bwMode="auto">
          <a:xfrm>
            <a:off x="4663440" y="2743200"/>
            <a:ext cx="41148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33202675" name="Text 16"/>
          <p:cNvSpPr/>
          <p:nvPr/>
        </p:nvSpPr>
        <p:spPr bwMode="auto">
          <a:xfrm>
            <a:off x="4773168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</a:t>
            </a:r>
            <a:endParaRPr lang="en-US" sz="1100"/>
          </a:p>
        </p:txBody>
      </p:sp>
      <p:sp>
        <p:nvSpPr>
          <p:cNvPr id="236856524" name="Text 17"/>
          <p:cNvSpPr/>
          <p:nvPr/>
        </p:nvSpPr>
        <p:spPr bwMode="auto">
          <a:xfrm>
            <a:off x="4773168" y="3145536"/>
            <a:ext cx="393192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Multiplicative mode: seasonal peaks grow proportionally as business grows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MAPE &lt; 20% on 3-month held-out test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November identified as peak revenue month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93024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40824156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1072089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2050168388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1885874476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68384087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Flask Dashboard</a:t>
            </a:r>
            <a:endParaRPr lang="en-US" sz="2400"/>
          </a:p>
        </p:txBody>
      </p:sp>
      <p:sp>
        <p:nvSpPr>
          <p:cNvPr id="1616516535" name="Shape 6"/>
          <p:cNvSpPr/>
          <p:nvPr/>
        </p:nvSpPr>
        <p:spPr bwMode="auto">
          <a:xfrm>
            <a:off x="365760" y="868680"/>
            <a:ext cx="4023360" cy="1828800"/>
          </a:xfrm>
          <a:prstGeom prst="rect">
            <a:avLst/>
          </a:prstGeom>
          <a:solidFill>
            <a:srgbClr val="1A2744"/>
          </a:solidFill>
          <a:ln w="1524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27781514" name="Shape 7"/>
          <p:cNvSpPr/>
          <p:nvPr/>
        </p:nvSpPr>
        <p:spPr bwMode="auto">
          <a:xfrm>
            <a:off x="365760" y="868680"/>
            <a:ext cx="4023360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36286060" name="Text 8"/>
          <p:cNvSpPr/>
          <p:nvPr/>
        </p:nvSpPr>
        <p:spPr bwMode="auto">
          <a:xfrm>
            <a:off x="457200" y="905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 Overview</a:t>
            </a:r>
            <a:endParaRPr lang="en-US" sz="1100"/>
          </a:p>
        </p:txBody>
      </p:sp>
      <p:sp>
        <p:nvSpPr>
          <p:cNvPr id="1855070342" name="Text 9"/>
          <p:cNvSpPr/>
          <p:nvPr/>
        </p:nvSpPr>
        <p:spPr bwMode="auto">
          <a:xfrm>
            <a:off x="457200" y="130759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Stat cards: total customers, high/low/medium risk, next month forecast, YoY growth, MAPE. Model cards linking to each section.</a:t>
            </a:r>
            <a:endParaRPr lang="en-US" sz="950"/>
          </a:p>
        </p:txBody>
      </p:sp>
      <p:sp>
        <p:nvSpPr>
          <p:cNvPr id="544422934" name="Shape 10"/>
          <p:cNvSpPr/>
          <p:nvPr/>
        </p:nvSpPr>
        <p:spPr bwMode="auto">
          <a:xfrm>
            <a:off x="4709160" y="868680"/>
            <a:ext cx="4023360" cy="1828800"/>
          </a:xfrm>
          <a:prstGeom prst="rect">
            <a:avLst/>
          </a:prstGeom>
          <a:solidFill>
            <a:srgbClr val="1A2744"/>
          </a:solidFill>
          <a:ln w="15240">
            <a:solidFill>
              <a:srgbClr val="EF53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289600647" name="Shape 11"/>
          <p:cNvSpPr/>
          <p:nvPr/>
        </p:nvSpPr>
        <p:spPr bwMode="auto">
          <a:xfrm>
            <a:off x="4709160" y="868680"/>
            <a:ext cx="402336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33706734" name="Text 12"/>
          <p:cNvSpPr/>
          <p:nvPr/>
        </p:nvSpPr>
        <p:spPr bwMode="auto">
          <a:xfrm>
            <a:off x="4800600" y="905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/churn</a:t>
            </a:r>
            <a:endParaRPr lang="en-US" sz="1100"/>
          </a:p>
        </p:txBody>
      </p:sp>
      <p:sp>
        <p:nvSpPr>
          <p:cNvPr id="256014757" name="Text 13"/>
          <p:cNvSpPr/>
          <p:nvPr/>
        </p:nvSpPr>
        <p:spPr bwMode="auto">
          <a:xfrm>
            <a:off x="4800600" y="130759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Tabbed customer risk table (High/Medium/Low). Segment donut chart. Risk tier bar chart. Revenue at risk stat.</a:t>
            </a:r>
            <a:endParaRPr lang="en-US" sz="950"/>
          </a:p>
        </p:txBody>
      </p:sp>
      <p:sp>
        <p:nvSpPr>
          <p:cNvPr id="584771202" name="Shape 14"/>
          <p:cNvSpPr/>
          <p:nvPr/>
        </p:nvSpPr>
        <p:spPr bwMode="auto">
          <a:xfrm>
            <a:off x="365760" y="2880360"/>
            <a:ext cx="4023360" cy="1828800"/>
          </a:xfrm>
          <a:prstGeom prst="rect">
            <a:avLst/>
          </a:prstGeom>
          <a:solidFill>
            <a:srgbClr val="1A2744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80265378" name="Shape 15"/>
          <p:cNvSpPr/>
          <p:nvPr/>
        </p:nvSpPr>
        <p:spPr bwMode="auto">
          <a:xfrm>
            <a:off x="365760" y="2880360"/>
            <a:ext cx="402336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45290503" name="Text 16"/>
          <p:cNvSpPr/>
          <p:nvPr/>
        </p:nvSpPr>
        <p:spPr bwMode="auto">
          <a:xfrm>
            <a:off x="457200" y="2916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/forecast</a:t>
            </a:r>
            <a:endParaRPr lang="en-US" sz="1100"/>
          </a:p>
        </p:txBody>
      </p:sp>
      <p:sp>
        <p:nvSpPr>
          <p:cNvPr id="2007510833" name="Text 17"/>
          <p:cNvSpPr/>
          <p:nvPr/>
        </p:nvSpPr>
        <p:spPr bwMode="auto">
          <a:xfrm>
            <a:off x="457200" y="331927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6-month line chart with confidence bands. Seasonal pattern bar chart. YoY revenue bar chart. Forecast table.</a:t>
            </a:r>
            <a:endParaRPr lang="en-US" sz="950"/>
          </a:p>
        </p:txBody>
      </p:sp>
      <p:sp>
        <p:nvSpPr>
          <p:cNvPr id="1759272768" name="Shape 18"/>
          <p:cNvSpPr/>
          <p:nvPr/>
        </p:nvSpPr>
        <p:spPr bwMode="auto">
          <a:xfrm>
            <a:off x="4709160" y="2880360"/>
            <a:ext cx="4023360" cy="1828800"/>
          </a:xfrm>
          <a:prstGeom prst="rect">
            <a:avLst/>
          </a:prstGeom>
          <a:solidFill>
            <a:srgbClr val="1A2744"/>
          </a:solidFill>
          <a:ln w="1524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892329078" name="Shape 19"/>
          <p:cNvSpPr/>
          <p:nvPr/>
        </p:nvSpPr>
        <p:spPr bwMode="auto">
          <a:xfrm>
            <a:off x="4709160" y="2880360"/>
            <a:ext cx="4023360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1968198" name="Text 20"/>
          <p:cNvSpPr/>
          <p:nvPr/>
        </p:nvSpPr>
        <p:spPr bwMode="auto">
          <a:xfrm>
            <a:off x="4800600" y="2916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/clv-basket</a:t>
            </a:r>
            <a:endParaRPr lang="en-US" sz="1100"/>
          </a:p>
        </p:txBody>
      </p:sp>
      <p:sp>
        <p:nvSpPr>
          <p:cNvPr id="1365420838" name="Text 21"/>
          <p:cNvSpPr/>
          <p:nvPr/>
        </p:nvSpPr>
        <p:spPr bwMode="auto">
          <a:xfrm>
            <a:off x="4800600" y="3319272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CLV tier distribution. Top CLV customers table. Product bundle lookup by product name. Association rules table.</a:t>
            </a:r>
            <a:endParaRPr lang="en-US" sz="950"/>
          </a:p>
        </p:txBody>
      </p:sp>
      <p:sp>
        <p:nvSpPr>
          <p:cNvPr id="646651525" name="Text 22"/>
          <p:cNvSpPr/>
          <p:nvPr/>
        </p:nvSpPr>
        <p:spPr bwMode="auto">
          <a:xfrm>
            <a:off x="276463" y="47685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Tech stack: Flask (Python) · Chart.js · Sora/DM Mono fonts · Dark theme · Responsive grid layout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6301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8093091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5746741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211760315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1084263340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15168468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 &amp; Performance Evaluation</a:t>
            </a:r>
            <a:endParaRPr lang="en-US" sz="2400"/>
          </a:p>
        </p:txBody>
      </p:sp>
      <p:sp>
        <p:nvSpPr>
          <p:cNvPr id="385107687" name="Shape 6"/>
          <p:cNvSpPr/>
          <p:nvPr/>
        </p:nvSpPr>
        <p:spPr bwMode="auto">
          <a:xfrm>
            <a:off x="365760" y="822960"/>
            <a:ext cx="1938528" cy="1371600"/>
          </a:xfrm>
          <a:prstGeom prst="rect">
            <a:avLst/>
          </a:prstGeom>
          <a:solidFill>
            <a:srgbClr val="1A2744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887195474" name="Shape 7"/>
          <p:cNvSpPr/>
          <p:nvPr/>
        </p:nvSpPr>
        <p:spPr bwMode="auto">
          <a:xfrm>
            <a:off x="365760" y="822960"/>
            <a:ext cx="54864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119325862" name="Text 8"/>
          <p:cNvSpPr/>
          <p:nvPr/>
        </p:nvSpPr>
        <p:spPr bwMode="auto">
          <a:xfrm>
            <a:off x="502920" y="89611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ETL Pipeline</a:t>
            </a:r>
            <a:endParaRPr lang="en-US" sz="1000"/>
          </a:p>
        </p:txBody>
      </p:sp>
      <p:sp>
        <p:nvSpPr>
          <p:cNvPr id="1208837600" name="Text 9"/>
          <p:cNvSpPr/>
          <p:nvPr/>
        </p:nvSpPr>
        <p:spPr bwMode="auto">
          <a:xfrm>
            <a:off x="502920" y="11155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805,549 clean rows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1,067,371 raw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~24% removed</a:t>
            </a:r>
            <a:endParaRPr lang="en-US" sz="1300"/>
          </a:p>
        </p:txBody>
      </p:sp>
      <p:sp>
        <p:nvSpPr>
          <p:cNvPr id="218576078" name="Shape 10"/>
          <p:cNvSpPr/>
          <p:nvPr/>
        </p:nvSpPr>
        <p:spPr bwMode="auto">
          <a:xfrm>
            <a:off x="2423160" y="822960"/>
            <a:ext cx="1938528" cy="1371600"/>
          </a:xfrm>
          <a:prstGeom prst="rect">
            <a:avLst/>
          </a:prstGeom>
          <a:solidFill>
            <a:srgbClr val="1A2744"/>
          </a:solidFill>
          <a:ln w="19050">
            <a:solidFill>
              <a:srgbClr val="EF53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79814095" name="Shape 11"/>
          <p:cNvSpPr/>
          <p:nvPr/>
        </p:nvSpPr>
        <p:spPr bwMode="auto">
          <a:xfrm>
            <a:off x="2423160" y="822960"/>
            <a:ext cx="54864" cy="13716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85392810" name="Text 12"/>
          <p:cNvSpPr/>
          <p:nvPr/>
        </p:nvSpPr>
        <p:spPr bwMode="auto">
          <a:xfrm>
            <a:off x="2560320" y="89611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Churn ROC-AUC</a:t>
            </a:r>
            <a:endParaRPr lang="en-US" sz="1000"/>
          </a:p>
        </p:txBody>
      </p:sp>
      <p:sp>
        <p:nvSpPr>
          <p:cNvPr id="1381297715" name="Text 13"/>
          <p:cNvSpPr/>
          <p:nvPr/>
        </p:nvSpPr>
        <p:spPr bwMode="auto">
          <a:xfrm>
            <a:off x="2560320" y="11155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Above 0.85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 held-out test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Consistent 5-fold CV</a:t>
            </a:r>
            <a:endParaRPr lang="en-US" sz="1300"/>
          </a:p>
        </p:txBody>
      </p:sp>
      <p:sp>
        <p:nvSpPr>
          <p:cNvPr id="906341594" name="Shape 14"/>
          <p:cNvSpPr/>
          <p:nvPr/>
        </p:nvSpPr>
        <p:spPr bwMode="auto">
          <a:xfrm>
            <a:off x="4480560" y="822960"/>
            <a:ext cx="1938528" cy="137160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79673712" name="Shape 15"/>
          <p:cNvSpPr/>
          <p:nvPr/>
        </p:nvSpPr>
        <p:spPr bwMode="auto">
          <a:xfrm>
            <a:off x="4480560" y="822960"/>
            <a:ext cx="54864" cy="1371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08228116" name="Text 16"/>
          <p:cNvSpPr/>
          <p:nvPr/>
        </p:nvSpPr>
        <p:spPr bwMode="auto">
          <a:xfrm>
            <a:off x="4617720" y="89611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Forecast MAPE</a:t>
            </a:r>
            <a:endParaRPr lang="en-US" sz="1000"/>
          </a:p>
        </p:txBody>
      </p:sp>
      <p:sp>
        <p:nvSpPr>
          <p:cNvPr id="325916028" name="Text 17"/>
          <p:cNvSpPr/>
          <p:nvPr/>
        </p:nvSpPr>
        <p:spPr bwMode="auto">
          <a:xfrm>
            <a:off x="4617720" y="1225471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Below 20%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 3-month test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Multiplicative seasonal</a:t>
            </a:r>
            <a:endParaRPr lang="en-US" sz="1300"/>
          </a:p>
        </p:txBody>
      </p:sp>
      <p:sp>
        <p:nvSpPr>
          <p:cNvPr id="1112014588" name="Shape 18"/>
          <p:cNvSpPr/>
          <p:nvPr/>
        </p:nvSpPr>
        <p:spPr bwMode="auto">
          <a:xfrm>
            <a:off x="6537960" y="822960"/>
            <a:ext cx="1938528" cy="1371600"/>
          </a:xfrm>
          <a:prstGeom prst="rect">
            <a:avLst/>
          </a:prstGeom>
          <a:solidFill>
            <a:srgbClr val="1A2744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7755180" name="Shape 19"/>
          <p:cNvSpPr/>
          <p:nvPr/>
        </p:nvSpPr>
        <p:spPr bwMode="auto">
          <a:xfrm>
            <a:off x="6537960" y="822960"/>
            <a:ext cx="54864" cy="13716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453744157" name="Text 20"/>
          <p:cNvSpPr/>
          <p:nvPr/>
        </p:nvSpPr>
        <p:spPr bwMode="auto">
          <a:xfrm>
            <a:off x="6675120" y="89611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Basket Lift</a:t>
            </a:r>
            <a:endParaRPr lang="en-US" sz="1000"/>
          </a:p>
        </p:txBody>
      </p:sp>
      <p:sp>
        <p:nvSpPr>
          <p:cNvPr id="855361480" name="Text 21"/>
          <p:cNvSpPr/>
          <p:nvPr/>
        </p:nvSpPr>
        <p:spPr bwMode="auto">
          <a:xfrm>
            <a:off x="6675120" y="11155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Top rules: lift &gt; 3.0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 co-occurrence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meaningful pairs</a:t>
            </a:r>
            <a:endParaRPr lang="en-US" sz="1300"/>
          </a:p>
        </p:txBody>
      </p:sp>
      <p:sp>
        <p:nvSpPr>
          <p:cNvPr id="1405310282" name="Text 22"/>
          <p:cNvSpPr/>
          <p:nvPr/>
        </p:nvSpPr>
        <p:spPr bwMode="auto"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Key Findings</a:t>
            </a:r>
            <a:endParaRPr lang="en-US" sz="1300"/>
          </a:p>
        </p:txBody>
      </p:sp>
      <p:sp>
        <p:nvSpPr>
          <p:cNvPr id="1058401656" name="Shape 23"/>
          <p:cNvSpPr/>
          <p:nvPr/>
        </p:nvSpPr>
        <p:spPr bwMode="auto">
          <a:xfrm>
            <a:off x="365760" y="2788920"/>
            <a:ext cx="54864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4163651" name="Text 24"/>
          <p:cNvSpPr/>
          <p:nvPr/>
        </p:nvSpPr>
        <p:spPr bwMode="auto">
          <a:xfrm>
            <a:off x="530352" y="2798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Recency is the strongest churn signal — customers with Recency &gt; 90 days are almost always churned</a:t>
            </a:r>
            <a:endParaRPr lang="en-US" sz="1050"/>
          </a:p>
        </p:txBody>
      </p:sp>
      <p:sp>
        <p:nvSpPr>
          <p:cNvPr id="601084221" name="Shape 25"/>
          <p:cNvSpPr/>
          <p:nvPr/>
        </p:nvSpPr>
        <p:spPr bwMode="auto">
          <a:xfrm>
            <a:off x="365760" y="3264408"/>
            <a:ext cx="54864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22836065" name="Text 26"/>
          <p:cNvSpPr/>
          <p:nvPr/>
        </p:nvSpPr>
        <p:spPr bwMode="auto">
          <a:xfrm>
            <a:off x="530352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November is consistently the highest revenue month — multiplicative seasonality correctly captures Q4 surge</a:t>
            </a:r>
            <a:endParaRPr lang="en-US" sz="1050"/>
          </a:p>
        </p:txBody>
      </p:sp>
      <p:sp>
        <p:nvSpPr>
          <p:cNvPr id="1074426122" name="Shape 27"/>
          <p:cNvSpPr/>
          <p:nvPr/>
        </p:nvSpPr>
        <p:spPr bwMode="auto">
          <a:xfrm>
            <a:off x="365760" y="3739896"/>
            <a:ext cx="54864" cy="3474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41080896" name="Text 28"/>
          <p:cNvSpPr/>
          <p:nvPr/>
        </p:nvSpPr>
        <p:spPr bwMode="auto">
          <a:xfrm>
            <a:off x="530352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High CLV customers concentrate in the Champions RFM segment, validating model consistency across pipelines</a:t>
            </a:r>
            <a:endParaRPr lang="en-US" sz="1050"/>
          </a:p>
        </p:txBody>
      </p:sp>
      <p:sp>
        <p:nvSpPr>
          <p:cNvPr id="1982408139" name="Shape 29"/>
          <p:cNvSpPr/>
          <p:nvPr/>
        </p:nvSpPr>
        <p:spPr bwMode="auto">
          <a:xfrm>
            <a:off x="365760" y="4215384"/>
            <a:ext cx="54864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76454053" name="Text 30"/>
          <p:cNvSpPr/>
          <p:nvPr/>
        </p:nvSpPr>
        <p:spPr bwMode="auto">
          <a:xfrm>
            <a:off x="530352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FP-Growth identifies meaningful product pairs in gift/home goods categories with lift scores above 3.0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689606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6790690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4109298" name="Text 2"/>
          <p:cNvSpPr/>
          <p:nvPr/>
        </p:nvSpPr>
        <p:spPr bwMode="auto">
          <a:xfrm>
            <a:off x="274320" y="49103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· Intelligent E-Commerce Decision Support System</a:t>
            </a:r>
            <a:endParaRPr lang="en-US" sz="800"/>
          </a:p>
        </p:txBody>
      </p:sp>
      <p:sp>
        <p:nvSpPr>
          <p:cNvPr id="1390259191" name="Text 3"/>
          <p:cNvSpPr/>
          <p:nvPr/>
        </p:nvSpPr>
        <p:spPr bwMode="auto">
          <a:xfrm>
            <a:off x="6858000" y="49103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Shiv Nadar University Chennai</a:t>
            </a:r>
            <a:endParaRPr lang="en-US" sz="800"/>
          </a:p>
        </p:txBody>
      </p:sp>
      <p:sp>
        <p:nvSpPr>
          <p:cNvPr id="1422026949" name="Shape 4"/>
          <p:cNvSpPr/>
          <p:nvPr/>
        </p:nvSpPr>
        <p:spPr bwMode="auto">
          <a:xfrm>
            <a:off x="365760" y="164592"/>
            <a:ext cx="54864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64020860" name="Text 5"/>
          <p:cNvSpPr/>
          <p:nvPr/>
        </p:nvSpPr>
        <p:spPr bwMode="auto">
          <a:xfrm>
            <a:off x="512064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2400"/>
          </a:p>
        </p:txBody>
      </p:sp>
      <p:sp>
        <p:nvSpPr>
          <p:cNvPr id="1235397519" name="Shape 6"/>
          <p:cNvSpPr/>
          <p:nvPr/>
        </p:nvSpPr>
        <p:spPr bwMode="auto">
          <a:xfrm>
            <a:off x="365760" y="822960"/>
            <a:ext cx="4023360" cy="3886200"/>
          </a:xfrm>
          <a:prstGeom prst="rect">
            <a:avLst/>
          </a:prstGeom>
          <a:solidFill>
            <a:srgbClr val="1A2744"/>
          </a:solidFill>
          <a:ln w="10160">
            <a:solidFill>
              <a:srgbClr val="4CAF5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2145357334" name="Shape 7"/>
          <p:cNvSpPr/>
          <p:nvPr/>
        </p:nvSpPr>
        <p:spPr bwMode="auto">
          <a:xfrm>
            <a:off x="365760" y="822960"/>
            <a:ext cx="402336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528169" name="Text 8"/>
          <p:cNvSpPr/>
          <p:nvPr/>
        </p:nvSpPr>
        <p:spPr bwMode="auto">
          <a:xfrm>
            <a:off x="475488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Was Achieved</a:t>
            </a:r>
            <a:endParaRPr lang="en-US" sz="1100"/>
          </a:p>
        </p:txBody>
      </p:sp>
      <p:sp>
        <p:nvSpPr>
          <p:cNvPr id="497082514" name="Text 9"/>
          <p:cNvSpPr/>
          <p:nvPr/>
        </p:nvSpPr>
        <p:spPr bwMode="auto">
          <a:xfrm>
            <a:off x="475488" y="1225296"/>
            <a:ext cx="38404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Complete ETL pipeline processing 1M records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2 ML models: Churn, Forecast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Intervention recommender with 12 action strings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6-month revenue forecast with confidence bands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Multi-page Flask dashboard with interactive charts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Moved from descriptive to prescriptive analytics</a:t>
            </a:r>
            <a:endParaRPr lang="en-US" sz="1000"/>
          </a:p>
        </p:txBody>
      </p:sp>
      <p:sp>
        <p:nvSpPr>
          <p:cNvPr id="326398755" name="Shape 10"/>
          <p:cNvSpPr/>
          <p:nvPr/>
        </p:nvSpPr>
        <p:spPr bwMode="auto">
          <a:xfrm>
            <a:off x="4663440" y="822960"/>
            <a:ext cx="4114800" cy="3886200"/>
          </a:xfrm>
          <a:prstGeom prst="rect">
            <a:avLst/>
          </a:prstGeom>
          <a:solidFill>
            <a:srgbClr val="1A2744"/>
          </a:solidFill>
          <a:ln w="1016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208466545" name="Shape 11"/>
          <p:cNvSpPr/>
          <p:nvPr/>
        </p:nvSpPr>
        <p:spPr bwMode="auto">
          <a:xfrm>
            <a:off x="4663440" y="822960"/>
            <a:ext cx="4114800" cy="32918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107354444" name="Text 12"/>
          <p:cNvSpPr/>
          <p:nvPr/>
        </p:nvSpPr>
        <p:spPr bwMode="auto">
          <a:xfrm>
            <a:off x="4773168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Future Enhancements</a:t>
            </a:r>
            <a:endParaRPr lang="en-US" sz="1100"/>
          </a:p>
        </p:txBody>
      </p:sp>
      <p:sp>
        <p:nvSpPr>
          <p:cNvPr id="1844776864" name="Text 13"/>
          <p:cNvSpPr/>
          <p:nvPr/>
        </p:nvSpPr>
        <p:spPr bwMode="auto">
          <a:xfrm>
            <a:off x="4773168" y="1225296"/>
            <a:ext cx="393192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Real-time streaming with Apache Kafka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Cloud deployment (AWS / GCP) for scalability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Natural Language Query Interface (Claude API)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What-If Scenario Simulator for revenue modeling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Country-wise individual Prophet forecasts</a:t>
            </a:r>
            <a:endParaRPr lang="en-US" sz="1000"/>
          </a:p>
          <a:p>
            <a:pPr marL="342900" indent="-342900">
              <a:buSzPct val="100000"/>
              <a:buChar char="•"/>
              <a:defRPr/>
            </a:pPr>
            <a:r>
              <a:rPr lang="en-US" sz="1000">
                <a:solidFill>
                  <a:srgbClr val="E0E8F0"/>
                </a:solidFill>
                <a:latin typeface="Calibri"/>
                <a:ea typeface="Calibri"/>
                <a:cs typeface="Calibri"/>
              </a:rPr>
              <a:t>A/B testing framework for intervention impact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275338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99051974" name="Shape 1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07898565" name="Shape 2"/>
          <p:cNvSpPr/>
          <p:nvPr/>
        </p:nvSpPr>
        <p:spPr bwMode="auto">
          <a:xfrm>
            <a:off x="1828800" y="1371600"/>
            <a:ext cx="5486400" cy="2560320"/>
          </a:xfrm>
          <a:prstGeom prst="rect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312882833" name="Text 3"/>
          <p:cNvSpPr/>
          <p:nvPr/>
        </p:nvSpPr>
        <p:spPr bwMode="auto"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4600"/>
          </a:p>
        </p:txBody>
      </p:sp>
      <p:sp>
        <p:nvSpPr>
          <p:cNvPr id="965487133" name="Shape 4"/>
          <p:cNvSpPr/>
          <p:nvPr/>
        </p:nvSpPr>
        <p:spPr bwMode="auto">
          <a:xfrm>
            <a:off x="2743200" y="2651760"/>
            <a:ext cx="36576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48151411" name="Text 5"/>
          <p:cNvSpPr/>
          <p:nvPr/>
        </p:nvSpPr>
        <p:spPr bwMode="auto"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800"/>
          </a:p>
        </p:txBody>
      </p:sp>
      <p:sp>
        <p:nvSpPr>
          <p:cNvPr id="936581599" name="Text 6"/>
          <p:cNvSpPr/>
          <p:nvPr/>
        </p:nvSpPr>
        <p:spPr bwMode="auto">
          <a:xfrm>
            <a:off x="457200" y="3123857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SS Adityaa  ·  23011102079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B.Tech Internet of Things  ·  Shiv Nadar University Chennai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Mentor: Dr. Veeramani Sonai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E-Commerce Decision Support System</dc:title>
  <dc:subject>PptxGenJS Presentation</dc:subject>
  <dc:creator>SS Adityaa</dc:creator>
  <cp:lastModifiedBy/>
  <cp:revision>3</cp:revision>
  <dcterms:created xsi:type="dcterms:W3CDTF">2026-04-15T00:33:10Z</dcterms:created>
  <dcterms:modified xsi:type="dcterms:W3CDTF">2026-04-15T04:34:45Z</dcterms:modified>
</cp:coreProperties>
</file>